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84" r:id="rId3"/>
    <p:sldId id="288" r:id="rId4"/>
    <p:sldId id="287" r:id="rId5"/>
    <p:sldId id="289" r:id="rId6"/>
    <p:sldId id="290" r:id="rId7"/>
    <p:sldId id="262" r:id="rId8"/>
    <p:sldId id="263" r:id="rId9"/>
    <p:sldId id="264" r:id="rId10"/>
    <p:sldId id="265" r:id="rId11"/>
    <p:sldId id="267" r:id="rId12"/>
    <p:sldId id="268" r:id="rId13"/>
    <p:sldId id="270" r:id="rId14"/>
    <p:sldId id="271" r:id="rId15"/>
    <p:sldId id="272" r:id="rId16"/>
    <p:sldId id="273" r:id="rId17"/>
    <p:sldId id="275" r:id="rId18"/>
    <p:sldId id="277" r:id="rId19"/>
    <p:sldId id="278" r:id="rId20"/>
    <p:sldId id="276" r:id="rId21"/>
    <p:sldId id="279" r:id="rId22"/>
    <p:sldId id="280" r:id="rId23"/>
    <p:sldId id="282" r:id="rId24"/>
    <p:sldId id="281" r:id="rId25"/>
    <p:sldId id="283" r:id="rId26"/>
    <p:sldId id="29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45"/>
  </p:normalViewPr>
  <p:slideViewPr>
    <p:cSldViewPr snapToGrid="0">
      <p:cViewPr varScale="1">
        <p:scale>
          <a:sx n="95" d="100"/>
          <a:sy n="9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53CD9-D9C7-47F9-A95A-90E9E2FBA64C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3DE067-BC2F-4BCC-8D70-CB6CFF35C989}">
      <dgm:prSet/>
      <dgm:spPr/>
      <dgm:t>
        <a:bodyPr/>
        <a:lstStyle/>
        <a:p>
          <a:r>
            <a:rPr lang="en-US"/>
            <a:t>Tracks changes in files</a:t>
          </a:r>
        </a:p>
      </dgm:t>
    </dgm:pt>
    <dgm:pt modelId="{765AD9DB-EF99-46E1-95A2-CCE3ECECC9BA}" type="parTrans" cxnId="{B5DADC5E-C85F-4E94-B3EF-73E7D6CBF209}">
      <dgm:prSet/>
      <dgm:spPr/>
      <dgm:t>
        <a:bodyPr/>
        <a:lstStyle/>
        <a:p>
          <a:endParaRPr lang="en-US"/>
        </a:p>
      </dgm:t>
    </dgm:pt>
    <dgm:pt modelId="{AF89E67A-1E72-49B8-97D7-E4E46D5B3ECB}" type="sibTrans" cxnId="{B5DADC5E-C85F-4E94-B3EF-73E7D6CBF209}">
      <dgm:prSet/>
      <dgm:spPr/>
      <dgm:t>
        <a:bodyPr/>
        <a:lstStyle/>
        <a:p>
          <a:endParaRPr lang="en-US"/>
        </a:p>
      </dgm:t>
    </dgm:pt>
    <dgm:pt modelId="{10BEEDC6-63E7-491B-A9BC-B587D029700B}">
      <dgm:prSet/>
      <dgm:spPr/>
      <dgm:t>
        <a:bodyPr/>
        <a:lstStyle/>
        <a:p>
          <a:r>
            <a:rPr lang="en-US"/>
            <a:t>Allows collaboration</a:t>
          </a:r>
        </a:p>
      </dgm:t>
    </dgm:pt>
    <dgm:pt modelId="{FC301EF1-9827-4B90-88C3-BF94F2266BAE}" type="parTrans" cxnId="{7B06DC0A-D3F0-466C-9958-4115DE4AB4F6}">
      <dgm:prSet/>
      <dgm:spPr/>
      <dgm:t>
        <a:bodyPr/>
        <a:lstStyle/>
        <a:p>
          <a:endParaRPr lang="en-US"/>
        </a:p>
      </dgm:t>
    </dgm:pt>
    <dgm:pt modelId="{FB28FDBF-0A28-430C-A210-D04F1BE58AE4}" type="sibTrans" cxnId="{7B06DC0A-D3F0-466C-9958-4115DE4AB4F6}">
      <dgm:prSet/>
      <dgm:spPr/>
      <dgm:t>
        <a:bodyPr/>
        <a:lstStyle/>
        <a:p>
          <a:endParaRPr lang="en-US"/>
        </a:p>
      </dgm:t>
    </dgm:pt>
    <dgm:pt modelId="{BC4877D7-F6BD-4BF2-BC66-7B0FB4A29AC1}">
      <dgm:prSet/>
      <dgm:spPr/>
      <dgm:t>
        <a:bodyPr/>
        <a:lstStyle/>
        <a:p>
          <a:r>
            <a:rPr lang="en-US"/>
            <a:t>Maintains history</a:t>
          </a:r>
        </a:p>
      </dgm:t>
    </dgm:pt>
    <dgm:pt modelId="{E2CAC097-D01D-44AF-BA8C-0227741C173C}" type="parTrans" cxnId="{AFE6543F-1E11-4FA9-B103-3C64E150EA31}">
      <dgm:prSet/>
      <dgm:spPr/>
      <dgm:t>
        <a:bodyPr/>
        <a:lstStyle/>
        <a:p>
          <a:endParaRPr lang="en-US"/>
        </a:p>
      </dgm:t>
    </dgm:pt>
    <dgm:pt modelId="{C9AEC1BB-5D9D-4181-97D7-69EC8EFF43BF}" type="sibTrans" cxnId="{AFE6543F-1E11-4FA9-B103-3C64E150EA31}">
      <dgm:prSet/>
      <dgm:spPr/>
      <dgm:t>
        <a:bodyPr/>
        <a:lstStyle/>
        <a:p>
          <a:endParaRPr lang="en-US"/>
        </a:p>
      </dgm:t>
    </dgm:pt>
    <dgm:pt modelId="{0AAAC6FC-9DB0-4041-AC99-985923EFC535}">
      <dgm:prSet/>
      <dgm:spPr/>
      <dgm:t>
        <a:bodyPr/>
        <a:lstStyle/>
        <a:p>
          <a:r>
            <a:rPr lang="en-US"/>
            <a:t>Enables rollback</a:t>
          </a:r>
        </a:p>
      </dgm:t>
    </dgm:pt>
    <dgm:pt modelId="{969379C0-2FF2-4B97-A699-ADA35C6D7868}" type="parTrans" cxnId="{3AE49750-7BB5-4DD9-9C95-54EF6F1F7F14}">
      <dgm:prSet/>
      <dgm:spPr/>
      <dgm:t>
        <a:bodyPr/>
        <a:lstStyle/>
        <a:p>
          <a:endParaRPr lang="en-US"/>
        </a:p>
      </dgm:t>
    </dgm:pt>
    <dgm:pt modelId="{A843A248-0562-4F66-9D16-EB6C927D98F5}" type="sibTrans" cxnId="{3AE49750-7BB5-4DD9-9C95-54EF6F1F7F14}">
      <dgm:prSet/>
      <dgm:spPr/>
      <dgm:t>
        <a:bodyPr/>
        <a:lstStyle/>
        <a:p>
          <a:endParaRPr lang="en-US"/>
        </a:p>
      </dgm:t>
    </dgm:pt>
    <dgm:pt modelId="{10C62B45-3A55-B54D-86C8-4C919E5347B3}" type="pres">
      <dgm:prSet presAssocID="{85353CD9-D9C7-47F9-A95A-90E9E2FBA64C}" presName="outerComposite" presStyleCnt="0">
        <dgm:presLayoutVars>
          <dgm:chMax val="5"/>
          <dgm:dir/>
          <dgm:resizeHandles val="exact"/>
        </dgm:presLayoutVars>
      </dgm:prSet>
      <dgm:spPr/>
    </dgm:pt>
    <dgm:pt modelId="{D121B56D-79EC-F743-AA8A-CADB4A94621D}" type="pres">
      <dgm:prSet presAssocID="{85353CD9-D9C7-47F9-A95A-90E9E2FBA64C}" presName="dummyMaxCanvas" presStyleCnt="0">
        <dgm:presLayoutVars/>
      </dgm:prSet>
      <dgm:spPr/>
    </dgm:pt>
    <dgm:pt modelId="{80D65D52-4E56-E54D-8751-B10565C379AA}" type="pres">
      <dgm:prSet presAssocID="{85353CD9-D9C7-47F9-A95A-90E9E2FBA64C}" presName="FourNodes_1" presStyleLbl="node1" presStyleIdx="0" presStyleCnt="4">
        <dgm:presLayoutVars>
          <dgm:bulletEnabled val="1"/>
        </dgm:presLayoutVars>
      </dgm:prSet>
      <dgm:spPr/>
    </dgm:pt>
    <dgm:pt modelId="{1D42FE20-A2D5-1840-87B0-A9F38BCAF667}" type="pres">
      <dgm:prSet presAssocID="{85353CD9-D9C7-47F9-A95A-90E9E2FBA64C}" presName="FourNodes_2" presStyleLbl="node1" presStyleIdx="1" presStyleCnt="4">
        <dgm:presLayoutVars>
          <dgm:bulletEnabled val="1"/>
        </dgm:presLayoutVars>
      </dgm:prSet>
      <dgm:spPr/>
    </dgm:pt>
    <dgm:pt modelId="{6298DEA4-4E18-1D48-BF86-36B922921AAD}" type="pres">
      <dgm:prSet presAssocID="{85353CD9-D9C7-47F9-A95A-90E9E2FBA64C}" presName="FourNodes_3" presStyleLbl="node1" presStyleIdx="2" presStyleCnt="4">
        <dgm:presLayoutVars>
          <dgm:bulletEnabled val="1"/>
        </dgm:presLayoutVars>
      </dgm:prSet>
      <dgm:spPr/>
    </dgm:pt>
    <dgm:pt modelId="{500C3D91-7C20-C049-98AF-46DF7E593E2A}" type="pres">
      <dgm:prSet presAssocID="{85353CD9-D9C7-47F9-A95A-90E9E2FBA64C}" presName="FourNodes_4" presStyleLbl="node1" presStyleIdx="3" presStyleCnt="4">
        <dgm:presLayoutVars>
          <dgm:bulletEnabled val="1"/>
        </dgm:presLayoutVars>
      </dgm:prSet>
      <dgm:spPr/>
    </dgm:pt>
    <dgm:pt modelId="{CEE8D378-F105-9145-9792-EC790A0218E4}" type="pres">
      <dgm:prSet presAssocID="{85353CD9-D9C7-47F9-A95A-90E9E2FBA64C}" presName="FourConn_1-2" presStyleLbl="fgAccFollowNode1" presStyleIdx="0" presStyleCnt="3">
        <dgm:presLayoutVars>
          <dgm:bulletEnabled val="1"/>
        </dgm:presLayoutVars>
      </dgm:prSet>
      <dgm:spPr/>
    </dgm:pt>
    <dgm:pt modelId="{797ECC95-7252-DE41-B3D8-8E8A255B3703}" type="pres">
      <dgm:prSet presAssocID="{85353CD9-D9C7-47F9-A95A-90E9E2FBA64C}" presName="FourConn_2-3" presStyleLbl="fgAccFollowNode1" presStyleIdx="1" presStyleCnt="3">
        <dgm:presLayoutVars>
          <dgm:bulletEnabled val="1"/>
        </dgm:presLayoutVars>
      </dgm:prSet>
      <dgm:spPr/>
    </dgm:pt>
    <dgm:pt modelId="{C1B9BA42-B217-7C49-9349-081F5110508B}" type="pres">
      <dgm:prSet presAssocID="{85353CD9-D9C7-47F9-A95A-90E9E2FBA64C}" presName="FourConn_3-4" presStyleLbl="fgAccFollowNode1" presStyleIdx="2" presStyleCnt="3">
        <dgm:presLayoutVars>
          <dgm:bulletEnabled val="1"/>
        </dgm:presLayoutVars>
      </dgm:prSet>
      <dgm:spPr/>
    </dgm:pt>
    <dgm:pt modelId="{52AEAF7C-3597-AD49-B3BD-F5EF09CCFDCE}" type="pres">
      <dgm:prSet presAssocID="{85353CD9-D9C7-47F9-A95A-90E9E2FBA64C}" presName="FourNodes_1_text" presStyleLbl="node1" presStyleIdx="3" presStyleCnt="4">
        <dgm:presLayoutVars>
          <dgm:bulletEnabled val="1"/>
        </dgm:presLayoutVars>
      </dgm:prSet>
      <dgm:spPr/>
    </dgm:pt>
    <dgm:pt modelId="{E4000A54-164D-324F-A3B3-036C84E8F021}" type="pres">
      <dgm:prSet presAssocID="{85353CD9-D9C7-47F9-A95A-90E9E2FBA64C}" presName="FourNodes_2_text" presStyleLbl="node1" presStyleIdx="3" presStyleCnt="4">
        <dgm:presLayoutVars>
          <dgm:bulletEnabled val="1"/>
        </dgm:presLayoutVars>
      </dgm:prSet>
      <dgm:spPr/>
    </dgm:pt>
    <dgm:pt modelId="{757588A9-79E1-FF40-BC27-9977E7A9D1B1}" type="pres">
      <dgm:prSet presAssocID="{85353CD9-D9C7-47F9-A95A-90E9E2FBA64C}" presName="FourNodes_3_text" presStyleLbl="node1" presStyleIdx="3" presStyleCnt="4">
        <dgm:presLayoutVars>
          <dgm:bulletEnabled val="1"/>
        </dgm:presLayoutVars>
      </dgm:prSet>
      <dgm:spPr/>
    </dgm:pt>
    <dgm:pt modelId="{23B065C9-5B9B-7842-9F72-7603F0E9DE07}" type="pres">
      <dgm:prSet presAssocID="{85353CD9-D9C7-47F9-A95A-90E9E2FBA64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B06DC0A-D3F0-466C-9958-4115DE4AB4F6}" srcId="{85353CD9-D9C7-47F9-A95A-90E9E2FBA64C}" destId="{10BEEDC6-63E7-491B-A9BC-B587D029700B}" srcOrd="1" destOrd="0" parTransId="{FC301EF1-9827-4B90-88C3-BF94F2266BAE}" sibTransId="{FB28FDBF-0A28-430C-A210-D04F1BE58AE4}"/>
    <dgm:cxn modelId="{B6064F12-82F3-B542-A2B5-2EBCE7AE1EFD}" type="presOf" srcId="{733DE067-BC2F-4BCC-8D70-CB6CFF35C989}" destId="{80D65D52-4E56-E54D-8751-B10565C379AA}" srcOrd="0" destOrd="0" presId="urn:microsoft.com/office/officeart/2005/8/layout/vProcess5"/>
    <dgm:cxn modelId="{1B59931D-4323-4748-AAB6-A5A75980D8BB}" type="presOf" srcId="{C9AEC1BB-5D9D-4181-97D7-69EC8EFF43BF}" destId="{C1B9BA42-B217-7C49-9349-081F5110508B}" srcOrd="0" destOrd="0" presId="urn:microsoft.com/office/officeart/2005/8/layout/vProcess5"/>
    <dgm:cxn modelId="{883BD22A-F476-1B41-9566-AA934834C240}" type="presOf" srcId="{0AAAC6FC-9DB0-4041-AC99-985923EFC535}" destId="{23B065C9-5B9B-7842-9F72-7603F0E9DE07}" srcOrd="1" destOrd="0" presId="urn:microsoft.com/office/officeart/2005/8/layout/vProcess5"/>
    <dgm:cxn modelId="{9D314F3B-7483-ED46-BAA1-A88E4CE157C7}" type="presOf" srcId="{AF89E67A-1E72-49B8-97D7-E4E46D5B3ECB}" destId="{CEE8D378-F105-9145-9792-EC790A0218E4}" srcOrd="0" destOrd="0" presId="urn:microsoft.com/office/officeart/2005/8/layout/vProcess5"/>
    <dgm:cxn modelId="{775EB93D-6F07-C14C-8006-0F4A163ED0EE}" type="presOf" srcId="{FB28FDBF-0A28-430C-A210-D04F1BE58AE4}" destId="{797ECC95-7252-DE41-B3D8-8E8A255B3703}" srcOrd="0" destOrd="0" presId="urn:microsoft.com/office/officeart/2005/8/layout/vProcess5"/>
    <dgm:cxn modelId="{AFE6543F-1E11-4FA9-B103-3C64E150EA31}" srcId="{85353CD9-D9C7-47F9-A95A-90E9E2FBA64C}" destId="{BC4877D7-F6BD-4BF2-BC66-7B0FB4A29AC1}" srcOrd="2" destOrd="0" parTransId="{E2CAC097-D01D-44AF-BA8C-0227741C173C}" sibTransId="{C9AEC1BB-5D9D-4181-97D7-69EC8EFF43BF}"/>
    <dgm:cxn modelId="{DE4C334F-57E3-CF42-BF25-638C672EB01D}" type="presOf" srcId="{BC4877D7-F6BD-4BF2-BC66-7B0FB4A29AC1}" destId="{757588A9-79E1-FF40-BC27-9977E7A9D1B1}" srcOrd="1" destOrd="0" presId="urn:microsoft.com/office/officeart/2005/8/layout/vProcess5"/>
    <dgm:cxn modelId="{3AE49750-7BB5-4DD9-9C95-54EF6F1F7F14}" srcId="{85353CD9-D9C7-47F9-A95A-90E9E2FBA64C}" destId="{0AAAC6FC-9DB0-4041-AC99-985923EFC535}" srcOrd="3" destOrd="0" parTransId="{969379C0-2FF2-4B97-A699-ADA35C6D7868}" sibTransId="{A843A248-0562-4F66-9D16-EB6C927D98F5}"/>
    <dgm:cxn modelId="{B5DADC5E-C85F-4E94-B3EF-73E7D6CBF209}" srcId="{85353CD9-D9C7-47F9-A95A-90E9E2FBA64C}" destId="{733DE067-BC2F-4BCC-8D70-CB6CFF35C989}" srcOrd="0" destOrd="0" parTransId="{765AD9DB-EF99-46E1-95A2-CCE3ECECC9BA}" sibTransId="{AF89E67A-1E72-49B8-97D7-E4E46D5B3ECB}"/>
    <dgm:cxn modelId="{D369C398-12CE-AC4D-A7A0-03E5F582E8E1}" type="presOf" srcId="{10BEEDC6-63E7-491B-A9BC-B587D029700B}" destId="{1D42FE20-A2D5-1840-87B0-A9F38BCAF667}" srcOrd="0" destOrd="0" presId="urn:microsoft.com/office/officeart/2005/8/layout/vProcess5"/>
    <dgm:cxn modelId="{3A19D49F-DEA4-7A4B-8CE8-2B21777E65AE}" type="presOf" srcId="{10BEEDC6-63E7-491B-A9BC-B587D029700B}" destId="{E4000A54-164D-324F-A3B3-036C84E8F021}" srcOrd="1" destOrd="0" presId="urn:microsoft.com/office/officeart/2005/8/layout/vProcess5"/>
    <dgm:cxn modelId="{A8A802B3-C07A-8744-BD7A-497866DCCC2B}" type="presOf" srcId="{BC4877D7-F6BD-4BF2-BC66-7B0FB4A29AC1}" destId="{6298DEA4-4E18-1D48-BF86-36B922921AAD}" srcOrd="0" destOrd="0" presId="urn:microsoft.com/office/officeart/2005/8/layout/vProcess5"/>
    <dgm:cxn modelId="{27C7EBC7-A68F-9B4A-836B-C204877AE64A}" type="presOf" srcId="{733DE067-BC2F-4BCC-8D70-CB6CFF35C989}" destId="{52AEAF7C-3597-AD49-B3BD-F5EF09CCFDCE}" srcOrd="1" destOrd="0" presId="urn:microsoft.com/office/officeart/2005/8/layout/vProcess5"/>
    <dgm:cxn modelId="{D0C26BEF-92ED-C448-82C7-8740CEDCD0EF}" type="presOf" srcId="{0AAAC6FC-9DB0-4041-AC99-985923EFC535}" destId="{500C3D91-7C20-C049-98AF-46DF7E593E2A}" srcOrd="0" destOrd="0" presId="urn:microsoft.com/office/officeart/2005/8/layout/vProcess5"/>
    <dgm:cxn modelId="{AAE78CFD-A849-394F-8B41-16933F6B6AE5}" type="presOf" srcId="{85353CD9-D9C7-47F9-A95A-90E9E2FBA64C}" destId="{10C62B45-3A55-B54D-86C8-4C919E5347B3}" srcOrd="0" destOrd="0" presId="urn:microsoft.com/office/officeart/2005/8/layout/vProcess5"/>
    <dgm:cxn modelId="{8AAA5A6E-3EA8-274C-AE27-AC1E67F6E7FC}" type="presParOf" srcId="{10C62B45-3A55-B54D-86C8-4C919E5347B3}" destId="{D121B56D-79EC-F743-AA8A-CADB4A94621D}" srcOrd="0" destOrd="0" presId="urn:microsoft.com/office/officeart/2005/8/layout/vProcess5"/>
    <dgm:cxn modelId="{5B0CE7B9-2618-924D-ABF3-A45F4A251E51}" type="presParOf" srcId="{10C62B45-3A55-B54D-86C8-4C919E5347B3}" destId="{80D65D52-4E56-E54D-8751-B10565C379AA}" srcOrd="1" destOrd="0" presId="urn:microsoft.com/office/officeart/2005/8/layout/vProcess5"/>
    <dgm:cxn modelId="{8B898CEF-051B-304D-A3C1-725F616DFBB5}" type="presParOf" srcId="{10C62B45-3A55-B54D-86C8-4C919E5347B3}" destId="{1D42FE20-A2D5-1840-87B0-A9F38BCAF667}" srcOrd="2" destOrd="0" presId="urn:microsoft.com/office/officeart/2005/8/layout/vProcess5"/>
    <dgm:cxn modelId="{AE940D53-80E6-F947-A459-ED98D0E9237D}" type="presParOf" srcId="{10C62B45-3A55-B54D-86C8-4C919E5347B3}" destId="{6298DEA4-4E18-1D48-BF86-36B922921AAD}" srcOrd="3" destOrd="0" presId="urn:microsoft.com/office/officeart/2005/8/layout/vProcess5"/>
    <dgm:cxn modelId="{11DB1B2E-C431-5A4C-B70A-7DF199FB5E6B}" type="presParOf" srcId="{10C62B45-3A55-B54D-86C8-4C919E5347B3}" destId="{500C3D91-7C20-C049-98AF-46DF7E593E2A}" srcOrd="4" destOrd="0" presId="urn:microsoft.com/office/officeart/2005/8/layout/vProcess5"/>
    <dgm:cxn modelId="{758FA292-317A-DA43-A1AB-5E496515E110}" type="presParOf" srcId="{10C62B45-3A55-B54D-86C8-4C919E5347B3}" destId="{CEE8D378-F105-9145-9792-EC790A0218E4}" srcOrd="5" destOrd="0" presId="urn:microsoft.com/office/officeart/2005/8/layout/vProcess5"/>
    <dgm:cxn modelId="{633A1005-33B5-0E4D-BD22-46AE98C66873}" type="presParOf" srcId="{10C62B45-3A55-B54D-86C8-4C919E5347B3}" destId="{797ECC95-7252-DE41-B3D8-8E8A255B3703}" srcOrd="6" destOrd="0" presId="urn:microsoft.com/office/officeart/2005/8/layout/vProcess5"/>
    <dgm:cxn modelId="{C2BD3269-D456-7A4F-9955-28D132540DD0}" type="presParOf" srcId="{10C62B45-3A55-B54D-86C8-4C919E5347B3}" destId="{C1B9BA42-B217-7C49-9349-081F5110508B}" srcOrd="7" destOrd="0" presId="urn:microsoft.com/office/officeart/2005/8/layout/vProcess5"/>
    <dgm:cxn modelId="{E20B63F4-6D12-9745-85B4-9EF884E725AC}" type="presParOf" srcId="{10C62B45-3A55-B54D-86C8-4C919E5347B3}" destId="{52AEAF7C-3597-AD49-B3BD-F5EF09CCFDCE}" srcOrd="8" destOrd="0" presId="urn:microsoft.com/office/officeart/2005/8/layout/vProcess5"/>
    <dgm:cxn modelId="{0604C2CC-9C05-3C44-BAD0-FEAF4594CFA6}" type="presParOf" srcId="{10C62B45-3A55-B54D-86C8-4C919E5347B3}" destId="{E4000A54-164D-324F-A3B3-036C84E8F021}" srcOrd="9" destOrd="0" presId="urn:microsoft.com/office/officeart/2005/8/layout/vProcess5"/>
    <dgm:cxn modelId="{E2CD5EAA-FD01-6147-808B-C44D9B5C9485}" type="presParOf" srcId="{10C62B45-3A55-B54D-86C8-4C919E5347B3}" destId="{757588A9-79E1-FF40-BC27-9977E7A9D1B1}" srcOrd="10" destOrd="0" presId="urn:microsoft.com/office/officeart/2005/8/layout/vProcess5"/>
    <dgm:cxn modelId="{B15F6FEF-9427-5647-99C3-35C08FEC5B3B}" type="presParOf" srcId="{10C62B45-3A55-B54D-86C8-4C919E5347B3}" destId="{23B065C9-5B9B-7842-9F72-7603F0E9DE0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65D52-4E56-E54D-8751-B10565C379AA}">
      <dsp:nvSpPr>
        <dsp:cNvPr id="0" name=""/>
        <dsp:cNvSpPr/>
      </dsp:nvSpPr>
      <dsp:spPr>
        <a:xfrm>
          <a:off x="0" y="0"/>
          <a:ext cx="7691088" cy="7469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Tracks changes in files</a:t>
          </a:r>
        </a:p>
      </dsp:txBody>
      <dsp:txXfrm>
        <a:off x="21876" y="21876"/>
        <a:ext cx="6821997" cy="703161"/>
      </dsp:txXfrm>
    </dsp:sp>
    <dsp:sp modelId="{1D42FE20-A2D5-1840-87B0-A9F38BCAF667}">
      <dsp:nvSpPr>
        <dsp:cNvPr id="0" name=""/>
        <dsp:cNvSpPr/>
      </dsp:nvSpPr>
      <dsp:spPr>
        <a:xfrm>
          <a:off x="644128" y="882715"/>
          <a:ext cx="7691088" cy="7469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Allows collaboration</a:t>
          </a:r>
        </a:p>
      </dsp:txBody>
      <dsp:txXfrm>
        <a:off x="666004" y="904591"/>
        <a:ext cx="6517714" cy="703161"/>
      </dsp:txXfrm>
    </dsp:sp>
    <dsp:sp modelId="{6298DEA4-4E18-1D48-BF86-36B922921AAD}">
      <dsp:nvSpPr>
        <dsp:cNvPr id="0" name=""/>
        <dsp:cNvSpPr/>
      </dsp:nvSpPr>
      <dsp:spPr>
        <a:xfrm>
          <a:off x="1278643" y="1765431"/>
          <a:ext cx="7691088" cy="7469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Maintains history</a:t>
          </a:r>
        </a:p>
      </dsp:txBody>
      <dsp:txXfrm>
        <a:off x="1300519" y="1787307"/>
        <a:ext cx="6527328" cy="703161"/>
      </dsp:txXfrm>
    </dsp:sp>
    <dsp:sp modelId="{500C3D91-7C20-C049-98AF-46DF7E593E2A}">
      <dsp:nvSpPr>
        <dsp:cNvPr id="0" name=""/>
        <dsp:cNvSpPr/>
      </dsp:nvSpPr>
      <dsp:spPr>
        <a:xfrm>
          <a:off x="1922772" y="2648146"/>
          <a:ext cx="7691088" cy="7469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Enables rollback</a:t>
          </a:r>
        </a:p>
      </dsp:txBody>
      <dsp:txXfrm>
        <a:off x="1944648" y="2670022"/>
        <a:ext cx="6517714" cy="703161"/>
      </dsp:txXfrm>
    </dsp:sp>
    <dsp:sp modelId="{CEE8D378-F105-9145-9792-EC790A0218E4}">
      <dsp:nvSpPr>
        <dsp:cNvPr id="0" name=""/>
        <dsp:cNvSpPr/>
      </dsp:nvSpPr>
      <dsp:spPr>
        <a:xfrm>
          <a:off x="7205595" y="572067"/>
          <a:ext cx="485493" cy="485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314831" y="572067"/>
        <a:ext cx="267021" cy="365333"/>
      </dsp:txXfrm>
    </dsp:sp>
    <dsp:sp modelId="{797ECC95-7252-DE41-B3D8-8E8A255B3703}">
      <dsp:nvSpPr>
        <dsp:cNvPr id="0" name=""/>
        <dsp:cNvSpPr/>
      </dsp:nvSpPr>
      <dsp:spPr>
        <a:xfrm>
          <a:off x="7849723" y="1454783"/>
          <a:ext cx="485493" cy="485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958959" y="1454783"/>
        <a:ext cx="267021" cy="365333"/>
      </dsp:txXfrm>
    </dsp:sp>
    <dsp:sp modelId="{C1B9BA42-B217-7C49-9349-081F5110508B}">
      <dsp:nvSpPr>
        <dsp:cNvPr id="0" name=""/>
        <dsp:cNvSpPr/>
      </dsp:nvSpPr>
      <dsp:spPr>
        <a:xfrm>
          <a:off x="8484238" y="2337498"/>
          <a:ext cx="485493" cy="4854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593474" y="2337498"/>
        <a:ext cx="267021" cy="365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2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419907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 bwMode="ltGray">
          <a:xfrm>
            <a:off x="-13575" y="1446723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585827" y="31379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86" y="1502900"/>
            <a:ext cx="9613861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871097"/>
            <a:ext cx="9613861" cy="3065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10248" y="170083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green background with white text&#10;&#10;AI-generated content may be incorrect.">
            <a:extLst>
              <a:ext uri="{FF2B5EF4-FFF2-40B4-BE49-F238E27FC236}">
                <a16:creationId xmlns:a16="http://schemas.microsoft.com/office/drawing/2014/main" id="{8D9792F0-DFD0-4476-9CC3-F71FFAAC74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4000"/>
          </a:blip>
          <a:stretch>
            <a:fillRect/>
          </a:stretch>
        </p:blipFill>
        <p:spPr>
          <a:xfrm>
            <a:off x="0" y="0"/>
            <a:ext cx="12192000" cy="1493582"/>
          </a:xfrm>
          <a:prstGeom prst="rect">
            <a:avLst/>
          </a:prstGeom>
          <a:gradFill>
            <a:gsLst>
              <a:gs pos="25000">
                <a:srgbClr val="1C869C"/>
              </a:gs>
              <a:gs pos="0">
                <a:schemeClr val="bg2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100000">
                <a:schemeClr val="bg2">
                  <a:shade val="78000"/>
                  <a:hueMod val="118000"/>
                  <a:satMod val="120000"/>
                  <a:lumMod val="69000"/>
                </a:schemeClr>
              </a:gs>
            </a:gsLst>
            <a:lin ang="2520000" scaled="0"/>
          </a:gradFill>
        </p:spPr>
      </p:pic>
      <p:pic>
        <p:nvPicPr>
          <p:cNvPr id="10" name="Picture 9" descr="A logo of a university&#10;&#10;AI-generated content may be incorrect.">
            <a:extLst>
              <a:ext uri="{FF2B5EF4-FFF2-40B4-BE49-F238E27FC236}">
                <a16:creationId xmlns:a16="http://schemas.microsoft.com/office/drawing/2014/main" id="{F1BB0571-76C6-E49A-B554-1ECDEB172B3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1255187" y="146199"/>
            <a:ext cx="709339" cy="86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5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67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-13575" y="1607305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21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0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99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13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55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20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708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03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84819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283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767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731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668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CF0EC4B-54ED-4041-B552-9BA760FA3DBA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4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98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lumMod val="75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8D824E-2FE2-436D-BA86-C0386D8FA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249541"/>
            <a:ext cx="8968085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20BEDE-8E7E-D00D-0CAC-B10161450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993" y="3115124"/>
            <a:ext cx="8625541" cy="9402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Version Control &amp; </a:t>
            </a:r>
            <a:br>
              <a:rPr lang="en-US" sz="4800" dirty="0"/>
            </a:br>
            <a:r>
              <a:rPr lang="en-US" sz="4800" dirty="0"/>
              <a:t>Continuous Integration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25D76A-F399-87EE-9477-C2EBFD08C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94" y="4562029"/>
            <a:ext cx="8923455" cy="1347844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Dr. Zhamri Che Ani</a:t>
            </a:r>
          </a:p>
          <a:p>
            <a:pPr algn="ctr"/>
            <a:r>
              <a:rPr lang="en-US" sz="2400" b="1" dirty="0" err="1"/>
              <a:t>Universiti</a:t>
            </a:r>
            <a:r>
              <a:rPr lang="en-US" sz="2400" b="1" dirty="0"/>
              <a:t> Utara Malaysia</a:t>
            </a:r>
          </a:p>
          <a:p>
            <a:pPr algn="ctr"/>
            <a:r>
              <a:rPr lang="en-US" sz="2400" b="1" dirty="0"/>
              <a:t>Malaysia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E62E99-E55A-4404-B79D-9C8CC8523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4249541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2B71E6-6516-4BB6-B895-35E8F2892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02314"/>
            <a:ext cx="8968085" cy="27594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blue and green background with white text&#10;&#10;AI-generated content may be incorrect.">
            <a:extLst>
              <a:ext uri="{FF2B5EF4-FFF2-40B4-BE49-F238E27FC236}">
                <a16:creationId xmlns:a16="http://schemas.microsoft.com/office/drawing/2014/main" id="{471A3C3C-1064-E68B-1B9E-AFBDC5E22BF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1" y="0"/>
            <a:ext cx="12188823" cy="2608459"/>
          </a:xfrm>
          <a:prstGeom prst="rect">
            <a:avLst/>
          </a:prstGeom>
          <a:gradFill>
            <a:gsLst>
              <a:gs pos="25000">
                <a:srgbClr val="1C869C"/>
              </a:gs>
              <a:gs pos="0">
                <a:schemeClr val="bg2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100000">
                <a:schemeClr val="bg2">
                  <a:shade val="78000"/>
                  <a:hueMod val="118000"/>
                  <a:satMod val="120000"/>
                  <a:lumMod val="69000"/>
                </a:schemeClr>
              </a:gs>
            </a:gsLst>
            <a:lin ang="2520000" scaled="0"/>
          </a:gradFill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BB39608-D59B-4A40-BD24-A3B510F02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5902314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logo of a university&#10;&#10;AI-generated content may be incorrect.">
            <a:extLst>
              <a:ext uri="{FF2B5EF4-FFF2-40B4-BE49-F238E27FC236}">
                <a16:creationId xmlns:a16="http://schemas.microsoft.com/office/drawing/2014/main" id="{78261CA1-460C-879F-F199-84220B5C2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269" y="2902256"/>
            <a:ext cx="2237999" cy="273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258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3944-572B-46E8-6DDC-AA722BFF8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DA95-B73B-0D65-E8E3-1319E9C58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32256"/>
            <a:ext cx="10408024" cy="1080938"/>
          </a:xfrm>
        </p:spPr>
        <p:txBody>
          <a:bodyPr>
            <a:normAutofit/>
          </a:bodyPr>
          <a:lstStyle/>
          <a:p>
            <a:r>
              <a:rPr lang="en-US" b="1" dirty="0"/>
              <a:t>Why Version Control?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8D13C22-9BCB-C0A3-3553-3D16E166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8564" y="2971623"/>
            <a:ext cx="6083550" cy="345607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What happens if:</a:t>
            </a:r>
          </a:p>
          <a:p>
            <a:r>
              <a:rPr lang="en-US" dirty="0"/>
              <a:t>Your laptop crashes?</a:t>
            </a:r>
          </a:p>
          <a:p>
            <a:r>
              <a:rPr lang="en-US" dirty="0"/>
              <a:t>Your team overwrite your work?</a:t>
            </a:r>
          </a:p>
          <a:p>
            <a:r>
              <a:rPr lang="en-US" dirty="0"/>
              <a:t>You want to go back to yesterday’s version?</a:t>
            </a:r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6CC3783-E43C-4256-419C-75248B03FDEF}"/>
              </a:ext>
            </a:extLst>
          </p:cNvPr>
          <p:cNvSpPr txBox="1">
            <a:spLocks/>
          </p:cNvSpPr>
          <p:nvPr/>
        </p:nvSpPr>
        <p:spPr>
          <a:xfrm>
            <a:off x="269886" y="2958353"/>
            <a:ext cx="6083550" cy="3545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Have you ever named files like:</a:t>
            </a:r>
          </a:p>
          <a:p>
            <a:r>
              <a:rPr lang="en-US" dirty="0" err="1"/>
              <a:t>assignment_final.docx</a:t>
            </a:r>
            <a:endParaRPr lang="en-US" dirty="0"/>
          </a:p>
          <a:p>
            <a:r>
              <a:rPr lang="en-US" dirty="0"/>
              <a:t>assignment_final_v2.docx</a:t>
            </a:r>
          </a:p>
          <a:p>
            <a:r>
              <a:rPr lang="en-US" dirty="0" err="1"/>
              <a:t>assignment_final_REAL.docx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32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AF1D1-8A62-809C-A947-4E8E75A4F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498A-C5F6-BBD8-7740-A426A3A4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40735"/>
            <a:ext cx="10408023" cy="1080938"/>
          </a:xfrm>
        </p:spPr>
        <p:txBody>
          <a:bodyPr>
            <a:normAutofit/>
          </a:bodyPr>
          <a:lstStyle/>
          <a:p>
            <a:r>
              <a:rPr lang="en-US" dirty="0"/>
              <a:t>What is Version Control?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7185FF9-BBB4-5763-B9A0-2E491F7CEC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554380"/>
              </p:ext>
            </p:extLst>
          </p:nvPr>
        </p:nvGraphicFramePr>
        <p:xfrm>
          <a:off x="680320" y="2995779"/>
          <a:ext cx="9613861" cy="3395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880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1CA4B-5973-6F24-0435-40F63F1D0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F65AD-DCA0-2210-05E4-F5DA522AC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70776"/>
            <a:ext cx="10394576" cy="1080938"/>
          </a:xfrm>
        </p:spPr>
        <p:txBody>
          <a:bodyPr>
            <a:normAutofit/>
          </a:bodyPr>
          <a:lstStyle/>
          <a:p>
            <a:r>
              <a:rPr lang="en-US" dirty="0"/>
              <a:t>Industry Standard Tools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60A6990-693E-56FA-A806-349138F4A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187" y="3478305"/>
            <a:ext cx="4572001" cy="2816416"/>
          </a:xfrm>
        </p:spPr>
        <p:txBody>
          <a:bodyPr anchor="ctr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Git</a:t>
            </a:r>
          </a:p>
          <a:p>
            <a:pPr lvl="1"/>
            <a:r>
              <a:rPr lang="en-US" sz="2400" dirty="0"/>
              <a:t>Created by Linus Torvalds</a:t>
            </a:r>
          </a:p>
          <a:p>
            <a:pPr lvl="1"/>
            <a:r>
              <a:rPr lang="en-US" sz="2400" dirty="0"/>
              <a:t>Distributed Version Control System</a:t>
            </a:r>
          </a:p>
          <a:p>
            <a:pPr lvl="1"/>
            <a:r>
              <a:rPr lang="en-US" sz="2400" dirty="0"/>
              <a:t>Fast, lightweight, powerful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5CC46-162D-4EB7-83F5-9A239A018DE4}"/>
              </a:ext>
            </a:extLst>
          </p:cNvPr>
          <p:cNvSpPr txBox="1">
            <a:spLocks/>
          </p:cNvSpPr>
          <p:nvPr/>
        </p:nvSpPr>
        <p:spPr>
          <a:xfrm>
            <a:off x="6605286" y="3451412"/>
            <a:ext cx="4906393" cy="29688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en-US" dirty="0"/>
              <a:t>GitHub</a:t>
            </a:r>
          </a:p>
          <a:p>
            <a:pPr lvl="1"/>
            <a:r>
              <a:rPr lang="en-US" sz="2400" dirty="0"/>
              <a:t>Cloud hosting for Git repositories</a:t>
            </a:r>
          </a:p>
          <a:p>
            <a:pPr lvl="1"/>
            <a:r>
              <a:rPr lang="en-US" sz="2400" dirty="0"/>
              <a:t>Enables collaboration</a:t>
            </a:r>
          </a:p>
          <a:p>
            <a:pPr lvl="1"/>
            <a:r>
              <a:rPr lang="en-US" sz="2400" dirty="0"/>
              <a:t>Pull Requests</a:t>
            </a:r>
          </a:p>
          <a:p>
            <a:pPr lvl="1"/>
            <a:r>
              <a:rPr lang="en-US" sz="2400" dirty="0"/>
              <a:t>CI/CD integration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0C7F8A8-B8BA-F15D-57E7-F8742460EEF6}"/>
              </a:ext>
            </a:extLst>
          </p:cNvPr>
          <p:cNvSpPr txBox="1">
            <a:spLocks/>
          </p:cNvSpPr>
          <p:nvPr/>
        </p:nvSpPr>
        <p:spPr>
          <a:xfrm>
            <a:off x="680321" y="3106060"/>
            <a:ext cx="9613861" cy="4977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20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CA1B-C7B1-A74B-BB9C-AB1032D9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F2F1-7D75-3871-AC55-C6D46EEAA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54181"/>
            <a:ext cx="10421470" cy="1080938"/>
          </a:xfrm>
        </p:spPr>
        <p:txBody>
          <a:bodyPr>
            <a:normAutofit/>
          </a:bodyPr>
          <a:lstStyle/>
          <a:p>
            <a:r>
              <a:rPr lang="en-US" b="1" dirty="0"/>
              <a:t>Human-Readable Version Numbers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B74C8-A5B5-1697-765F-62472F8DD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133164"/>
            <a:ext cx="9613861" cy="33886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In real projects, we use:</a:t>
            </a:r>
          </a:p>
          <a:p>
            <a:pPr marL="457200" lvl="1" indent="0">
              <a:buNone/>
            </a:pPr>
            <a:r>
              <a:rPr lang="en-US" sz="2400" dirty="0"/>
              <a:t>v1.0.0</a:t>
            </a:r>
          </a:p>
          <a:p>
            <a:pPr marL="457200" lvl="1" indent="0">
              <a:buNone/>
            </a:pPr>
            <a:r>
              <a:rPr lang="en-US" sz="2400" dirty="0"/>
              <a:t>v1.1.0</a:t>
            </a:r>
          </a:p>
          <a:p>
            <a:pPr marL="457200" lvl="1" indent="0">
              <a:buNone/>
            </a:pPr>
            <a:r>
              <a:rPr lang="en-US" sz="2400" dirty="0"/>
              <a:t>v1.1.1</a:t>
            </a:r>
          </a:p>
          <a:p>
            <a:pPr marL="457200" lvl="1" indent="0">
              <a:buNone/>
            </a:pPr>
            <a:r>
              <a:rPr lang="en-US" sz="2400" dirty="0"/>
              <a:t>v2.0.0</a:t>
            </a:r>
          </a:p>
          <a:p>
            <a:pPr marL="457200" lvl="1" indent="0">
              <a:buNone/>
            </a:pPr>
            <a:endParaRPr lang="en-US" sz="2400" dirty="0"/>
          </a:p>
          <a:p>
            <a:pPr marL="457200" lvl="1" indent="0">
              <a:buNone/>
            </a:pPr>
            <a:r>
              <a:rPr lang="en-US" sz="2400" dirty="0"/>
              <a:t>Format:</a:t>
            </a:r>
          </a:p>
          <a:p>
            <a:pPr marL="457200" lvl="1" indent="0">
              <a:buNone/>
            </a:pPr>
            <a:r>
              <a:rPr lang="en-US" sz="2400" dirty="0"/>
              <a:t>MAJOR.MINOR.PATCH</a:t>
            </a:r>
          </a:p>
        </p:txBody>
      </p:sp>
    </p:spTree>
    <p:extLst>
      <p:ext uri="{BB962C8B-B14F-4D97-AF65-F5344CB8AC3E}">
        <p14:creationId xmlns:p14="http://schemas.microsoft.com/office/powerpoint/2010/main" val="4056689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4182-163F-393E-BA38-715D23DAC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D591-726D-D6D1-B99A-63D801CA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54181"/>
            <a:ext cx="10434917" cy="1080938"/>
          </a:xfrm>
        </p:spPr>
        <p:txBody>
          <a:bodyPr>
            <a:normAutofit/>
          </a:bodyPr>
          <a:lstStyle/>
          <a:p>
            <a:r>
              <a:rPr lang="en-US" b="1" dirty="0"/>
              <a:t>Version Number: MAJOR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4787C6-F82A-3D4D-4B10-8058A54D3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62" y="3063014"/>
            <a:ext cx="9613861" cy="379498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MAJOR (1.x.x → 2.0.0)</a:t>
            </a:r>
          </a:p>
          <a:p>
            <a:pPr lvl="1"/>
            <a:r>
              <a:rPr lang="en-US" dirty="0"/>
              <a:t>Breaking changes</a:t>
            </a:r>
          </a:p>
          <a:p>
            <a:pPr lvl="1"/>
            <a:r>
              <a:rPr lang="en-US" dirty="0"/>
              <a:t>API changes</a:t>
            </a:r>
          </a:p>
          <a:p>
            <a:pPr lvl="1"/>
            <a:r>
              <a:rPr lang="en-US" dirty="0"/>
              <a:t>Backwards incompatible</a:t>
            </a:r>
          </a:p>
          <a:p>
            <a:pPr lvl="1"/>
            <a:endParaRPr lang="en-US" sz="2400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Removing a method</a:t>
            </a:r>
          </a:p>
          <a:p>
            <a:pPr lvl="1"/>
            <a:r>
              <a:rPr lang="en-US" dirty="0"/>
              <a:t>Changing database structure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68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48B75-E3E5-FE07-12E7-F29610BD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D031F-3FC7-7075-E615-EF6CCF51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40734"/>
            <a:ext cx="10325558" cy="1080938"/>
          </a:xfrm>
        </p:spPr>
        <p:txBody>
          <a:bodyPr>
            <a:normAutofit/>
          </a:bodyPr>
          <a:lstStyle/>
          <a:p>
            <a:r>
              <a:rPr lang="en-US" b="1" dirty="0"/>
              <a:t>Version Number: MINOR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7EBC471-7389-DC2C-6E6C-409E7325B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697" y="2955438"/>
            <a:ext cx="9613861" cy="33950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MINOR (1.1.0 → 1.2.0)</a:t>
            </a:r>
          </a:p>
          <a:p>
            <a:pPr lvl="1"/>
            <a:r>
              <a:rPr lang="en-US" dirty="0"/>
              <a:t>New feature added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Add a login feature</a:t>
            </a:r>
          </a:p>
          <a:p>
            <a:pPr lvl="1"/>
            <a:r>
              <a:rPr lang="en-US" dirty="0"/>
              <a:t>Add new API endpoint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83244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4A5B-4396-AC26-65AE-57D0B445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EC3B-B777-E36A-095B-B0DE926A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7287"/>
            <a:ext cx="10052135" cy="1080938"/>
          </a:xfrm>
        </p:spPr>
        <p:txBody>
          <a:bodyPr>
            <a:normAutofit/>
          </a:bodyPr>
          <a:lstStyle/>
          <a:p>
            <a:r>
              <a:rPr lang="en-US" b="1" dirty="0"/>
              <a:t>Version Number: PATCH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FEB9640-F821-1183-CA63-0E2DA5C99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49" y="3036120"/>
            <a:ext cx="9613861" cy="33950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PATCH (1.1.1 → 1.1.2)</a:t>
            </a:r>
          </a:p>
          <a:p>
            <a:pPr lvl="1"/>
            <a:r>
              <a:rPr lang="en-US" dirty="0"/>
              <a:t>Bug fixes</a:t>
            </a:r>
          </a:p>
          <a:p>
            <a:pPr lvl="1"/>
            <a:r>
              <a:rPr lang="en-US" dirty="0"/>
              <a:t>Small improvements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Fix the null pointer bug</a:t>
            </a:r>
          </a:p>
          <a:p>
            <a:pPr lvl="1"/>
            <a:r>
              <a:rPr lang="en-US" dirty="0"/>
              <a:t>Fix UI typo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4864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A28E-EB35-8241-7758-4911D6E2A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DB6B-F895-42DE-B1B9-ED24BC1E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27287"/>
            <a:ext cx="10222610" cy="1080938"/>
          </a:xfrm>
        </p:spPr>
        <p:txBody>
          <a:bodyPr>
            <a:normAutofit/>
          </a:bodyPr>
          <a:lstStyle/>
          <a:p>
            <a:r>
              <a:rPr lang="en-US" b="1" dirty="0"/>
              <a:t>Real Industry Example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76D92B-11E6-121E-A9D5-2D6836ADC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160059"/>
            <a:ext cx="9613861" cy="2571874"/>
          </a:xfrm>
        </p:spPr>
        <p:txBody>
          <a:bodyPr anchor="t">
            <a:normAutofit/>
          </a:bodyPr>
          <a:lstStyle/>
          <a:p>
            <a:endParaRPr lang="en-US" sz="2000" b="1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69754B-34D2-1943-3968-1DA8E0C6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281" y="3300754"/>
            <a:ext cx="5844993" cy="284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6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B712-25EE-C682-EFF2-7432AFD76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B782-BE6F-93CA-850E-8D45C293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65227"/>
            <a:ext cx="10222610" cy="1080938"/>
          </a:xfrm>
        </p:spPr>
        <p:txBody>
          <a:bodyPr>
            <a:normAutofit/>
          </a:bodyPr>
          <a:lstStyle/>
          <a:p>
            <a:r>
              <a:rPr lang="en-US" b="1" dirty="0"/>
              <a:t>Where Do We Store the Version Number?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D9B7516-3F1F-5A37-D2DA-67681D0D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749" y="3157144"/>
            <a:ext cx="9613861" cy="339506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Common places: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 err="1"/>
              <a:t>pom.xml</a:t>
            </a:r>
            <a:r>
              <a:rPr lang="en-US" dirty="0"/>
              <a:t> (Maven)</a:t>
            </a:r>
          </a:p>
          <a:p>
            <a:pPr lvl="1"/>
            <a:r>
              <a:rPr lang="en-US" dirty="0" err="1"/>
              <a:t>package.json</a:t>
            </a:r>
            <a:r>
              <a:rPr lang="en-US" dirty="0"/>
              <a:t> (Node)</a:t>
            </a:r>
          </a:p>
          <a:p>
            <a:pPr lvl="1"/>
            <a:r>
              <a:rPr lang="en-US" dirty="0" err="1"/>
              <a:t>application.properties</a:t>
            </a:r>
            <a:endParaRPr lang="en-US" dirty="0"/>
          </a:p>
          <a:p>
            <a:pPr lvl="1"/>
            <a:r>
              <a:rPr lang="en-US" dirty="0"/>
              <a:t>Git tag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94668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33A0-5D9A-058E-1F39-ACA470AB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3BC9-FD88-06D3-C285-A08C7338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1075"/>
            <a:ext cx="10294182" cy="1080938"/>
          </a:xfrm>
        </p:spPr>
        <p:txBody>
          <a:bodyPr>
            <a:normAutofit/>
          </a:bodyPr>
          <a:lstStyle/>
          <a:p>
            <a:r>
              <a:rPr lang="en-US" dirty="0"/>
              <a:t>What is CI/CD?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6AEEB6C-F3B3-3199-23FB-DD38BC043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25167"/>
            <a:ext cx="9613861" cy="339506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CI = Continuous Integration</a:t>
            </a:r>
          </a:p>
          <a:p>
            <a:r>
              <a:rPr lang="en-US" dirty="0"/>
              <a:t>CD = Continuous Delivery / Continuous Deployment</a:t>
            </a:r>
          </a:p>
          <a:p>
            <a:r>
              <a:rPr lang="en-US" dirty="0"/>
              <a:t>CI/CD is a practice and automation pipeline (that builds, tests, and deploys code) used in software development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79343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9B551-9094-7687-3FE8-49A5E9E8B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ECAED-5F66-E141-B58D-BB4005E9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56768"/>
            <a:ext cx="10294181" cy="1080938"/>
          </a:xfrm>
        </p:spPr>
        <p:txBody>
          <a:bodyPr>
            <a:normAutofit/>
          </a:bodyPr>
          <a:lstStyle/>
          <a:p>
            <a:r>
              <a:rPr lang="en-US" dirty="0"/>
              <a:t>Continuous Integration (CI) in Practice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B50352A-EC5D-B8EB-6071-569F5412D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173085"/>
            <a:ext cx="5801161" cy="3395060"/>
          </a:xfrm>
        </p:spPr>
        <p:txBody>
          <a:bodyPr anchor="t">
            <a:normAutofit/>
          </a:bodyPr>
          <a:lstStyle/>
          <a:p>
            <a:pPr lvl="1"/>
            <a:r>
              <a:rPr lang="en-US" sz="2600" dirty="0"/>
              <a:t>Developers frequently push code to a shared repository (e.g., GitHub).</a:t>
            </a:r>
          </a:p>
          <a:p>
            <a:pPr lvl="1"/>
            <a:r>
              <a:rPr lang="en-US" sz="2600" dirty="0"/>
              <a:t>Each push triggers:</a:t>
            </a:r>
          </a:p>
          <a:p>
            <a:pPr lvl="2"/>
            <a:r>
              <a:rPr lang="en-US" sz="2600" dirty="0"/>
              <a:t>Automatic build</a:t>
            </a:r>
          </a:p>
          <a:p>
            <a:pPr lvl="2"/>
            <a:r>
              <a:rPr lang="en-US" sz="2600" dirty="0"/>
              <a:t>Automated testing</a:t>
            </a:r>
          </a:p>
          <a:p>
            <a:pPr lvl="2"/>
            <a:endParaRPr lang="en-US" sz="2600" dirty="0"/>
          </a:p>
          <a:p>
            <a:pPr lvl="1"/>
            <a:r>
              <a:rPr lang="en-US" sz="2600" dirty="0"/>
              <a:t>Goal: Detect errors early.</a:t>
            </a:r>
          </a:p>
          <a:p>
            <a:endParaRPr lang="en-US" sz="2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061F-C0BB-988A-0D2B-08C6E49335A6}"/>
              </a:ext>
            </a:extLst>
          </p:cNvPr>
          <p:cNvSpPr txBox="1">
            <a:spLocks/>
          </p:cNvSpPr>
          <p:nvPr/>
        </p:nvSpPr>
        <p:spPr>
          <a:xfrm>
            <a:off x="6792933" y="3173085"/>
            <a:ext cx="4478867" cy="33950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Example tools:</a:t>
            </a:r>
          </a:p>
          <a:p>
            <a:pPr lvl="1"/>
            <a:r>
              <a:rPr lang="en-US" sz="2800" dirty="0"/>
              <a:t>GitHub Actions</a:t>
            </a:r>
          </a:p>
          <a:p>
            <a:pPr lvl="1"/>
            <a:r>
              <a:rPr lang="en-US" sz="2800" dirty="0"/>
              <a:t>GitLab CI</a:t>
            </a:r>
          </a:p>
          <a:p>
            <a:pPr lvl="1"/>
            <a:r>
              <a:rPr lang="en-US" sz="2800" dirty="0"/>
              <a:t>Jenkins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42244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C3F6-D2FB-E9DA-AE38-92E764698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9AC0-1CA3-1ADF-0D1F-F322091E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1075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What is DevOps?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E60DB335-1E67-60EF-E440-3680584D8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25167"/>
            <a:ext cx="9613861" cy="339506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/>
              <a:t>DevOps is much bigger.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Dev</a:t>
            </a:r>
            <a:r>
              <a:rPr lang="en-US" dirty="0"/>
              <a:t> = Development</a:t>
            </a:r>
          </a:p>
          <a:p>
            <a:r>
              <a:rPr lang="en-US" b="1" dirty="0"/>
              <a:t>Ops</a:t>
            </a:r>
            <a:r>
              <a:rPr lang="en-US" dirty="0"/>
              <a:t> = Operations</a:t>
            </a:r>
          </a:p>
          <a:p>
            <a:r>
              <a:rPr lang="en-US" b="1" dirty="0"/>
              <a:t>DevOps</a:t>
            </a:r>
            <a:r>
              <a:rPr lang="en-US" dirty="0"/>
              <a:t> = Culture + Practices + Tools</a:t>
            </a:r>
          </a:p>
          <a:p>
            <a:pPr marL="0" indent="0">
              <a:buNone/>
            </a:pPr>
            <a:br>
              <a:rPr lang="en-US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89298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951CA-9A26-28FD-F805-CF924CA8A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DCE2-92A1-ADB6-2871-0483E9F87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27287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DevOps Includes: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547CEE7-AB54-D2DA-7B30-939221B91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982331"/>
            <a:ext cx="9969750" cy="3767899"/>
          </a:xfrm>
        </p:spPr>
        <p:txBody>
          <a:bodyPr anchor="t">
            <a:noAutofit/>
          </a:bodyPr>
          <a:lstStyle/>
          <a:p>
            <a:pPr lvl="1"/>
            <a:r>
              <a:rPr lang="en-US" sz="2600" dirty="0"/>
              <a:t>CI/CD</a:t>
            </a:r>
          </a:p>
          <a:p>
            <a:pPr lvl="1"/>
            <a:r>
              <a:rPr lang="en-US" sz="2600" dirty="0"/>
              <a:t>Infrastructure as Code (</a:t>
            </a:r>
            <a:r>
              <a:rPr lang="en-US" sz="2600" dirty="0" err="1"/>
              <a:t>IaC</a:t>
            </a:r>
            <a:r>
              <a:rPr lang="en-US" sz="2600" dirty="0"/>
              <a:t>)</a:t>
            </a:r>
          </a:p>
          <a:p>
            <a:pPr lvl="1"/>
            <a:r>
              <a:rPr lang="en-US" sz="2600" dirty="0"/>
              <a:t>Monitoring</a:t>
            </a:r>
          </a:p>
          <a:p>
            <a:pPr lvl="1"/>
            <a:r>
              <a:rPr lang="en-US" sz="2600" dirty="0"/>
              <a:t>Logging</a:t>
            </a:r>
          </a:p>
          <a:p>
            <a:pPr lvl="1"/>
            <a:r>
              <a:rPr lang="en-US" sz="2600" dirty="0"/>
              <a:t>Containerization</a:t>
            </a:r>
          </a:p>
          <a:p>
            <a:pPr lvl="1"/>
            <a:r>
              <a:rPr lang="en-US" sz="2600" dirty="0"/>
              <a:t>Cloud deployment</a:t>
            </a:r>
          </a:p>
          <a:p>
            <a:pPr lvl="1"/>
            <a:r>
              <a:rPr lang="en-US" sz="2600" dirty="0"/>
              <a:t>Team collaboration</a:t>
            </a:r>
          </a:p>
          <a:p>
            <a:pPr marL="0" indent="0">
              <a:buNone/>
            </a:pP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9471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4A908-19DD-837D-0E82-DF5D223C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5BBA-B11F-F36C-BCAF-9DD738F9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94328"/>
            <a:ext cx="10294182" cy="1000449"/>
          </a:xfrm>
        </p:spPr>
        <p:txBody>
          <a:bodyPr>
            <a:normAutofit/>
          </a:bodyPr>
          <a:lstStyle/>
          <a:p>
            <a:r>
              <a:rPr lang="en-US" b="1" dirty="0"/>
              <a:t>DevOps Tools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195BB75-2BED-5865-6E48-8D76ED5B9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429000"/>
            <a:ext cx="9969750" cy="3767899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2600" b="1" dirty="0"/>
              <a:t>Example:</a:t>
            </a:r>
          </a:p>
          <a:p>
            <a:pPr marL="0" indent="0">
              <a:buNone/>
            </a:pPr>
            <a:endParaRPr lang="en-US" sz="2600" b="1" dirty="0"/>
          </a:p>
          <a:p>
            <a:pPr lvl="1"/>
            <a:r>
              <a:rPr lang="en-US" sz="2400" dirty="0"/>
              <a:t>Docker</a:t>
            </a:r>
          </a:p>
          <a:p>
            <a:pPr lvl="1"/>
            <a:r>
              <a:rPr lang="en-US" sz="2400" dirty="0"/>
              <a:t>Kubernetes</a:t>
            </a:r>
          </a:p>
          <a:p>
            <a:pPr lvl="1"/>
            <a:r>
              <a:rPr lang="en-US" sz="2400" dirty="0"/>
              <a:t>Terraform</a:t>
            </a:r>
          </a:p>
          <a:p>
            <a:pPr lvl="1"/>
            <a:r>
              <a:rPr lang="en-US" sz="2400" dirty="0"/>
              <a:t>Prometheus</a:t>
            </a:r>
          </a:p>
        </p:txBody>
      </p:sp>
    </p:spTree>
    <p:extLst>
      <p:ext uri="{BB962C8B-B14F-4D97-AF65-F5344CB8AC3E}">
        <p14:creationId xmlns:p14="http://schemas.microsoft.com/office/powerpoint/2010/main" val="1879709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85B7-4E97-0789-5D1B-BDD3A412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73BA-8660-55B8-5D6A-FD77A15F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54181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Key Difference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DECCE29-75B3-B91D-9E66-8EE599211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90101"/>
            <a:ext cx="9969750" cy="3767899"/>
          </a:xfrm>
        </p:spPr>
        <p:txBody>
          <a:bodyPr anchor="t">
            <a:noAutofit/>
          </a:bodyPr>
          <a:lstStyle/>
          <a:p>
            <a:pPr algn="just"/>
            <a:r>
              <a:rPr lang="en-US" dirty="0"/>
              <a:t>DevOps is a collaborative software engineering approach integrating development and operations to improve deployment frequency, reliability, and system stability.</a:t>
            </a:r>
          </a:p>
          <a:p>
            <a:endParaRPr lang="en-US" dirty="0"/>
          </a:p>
          <a:p>
            <a:pPr algn="just"/>
            <a:r>
              <a:rPr lang="en-US" dirty="0"/>
              <a:t>CI/CD is an automated software delivery practice enabling frequent integration, testing, and deployment of code changes.</a:t>
            </a:r>
          </a:p>
          <a:p>
            <a:pPr marL="0" indent="0">
              <a:buNone/>
            </a:pPr>
            <a:br>
              <a:rPr lang="en-US" sz="2600" dirty="0"/>
            </a:b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71225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D786-B955-0A2B-CE45-4F770FA3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9598-1378-F4E8-F701-20AB72314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94522"/>
            <a:ext cx="10076022" cy="1080938"/>
          </a:xfrm>
        </p:spPr>
        <p:txBody>
          <a:bodyPr>
            <a:normAutofit/>
          </a:bodyPr>
          <a:lstStyle/>
          <a:p>
            <a:r>
              <a:rPr lang="en-US" b="1" dirty="0"/>
              <a:t>CI/CD vs DevOps</a:t>
            </a:r>
          </a:p>
        </p:txBody>
      </p:sp>
      <p:pic>
        <p:nvPicPr>
          <p:cNvPr id="4" name="Picture 3" descr="A white rectangular table with black text&#10;&#10;AI-generated content may be incorrect.">
            <a:extLst>
              <a:ext uri="{FF2B5EF4-FFF2-40B4-BE49-F238E27FC236}">
                <a16:creationId xmlns:a16="http://schemas.microsoft.com/office/drawing/2014/main" id="{08408066-BDA1-944B-2748-D5383F55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47" y="3509031"/>
            <a:ext cx="7172616" cy="242733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FB63B-6123-6525-BBEF-63E164E5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7705" y="3509030"/>
            <a:ext cx="3711388" cy="24273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Analogy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DevOps = a car factory</a:t>
            </a:r>
          </a:p>
          <a:p>
            <a:r>
              <a:rPr lang="en-US" dirty="0"/>
              <a:t>CI/CD = the automated assembly line inside that factory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662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5613-FF01-C2DE-C6BB-A35BE2A7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B60B-8805-E216-9C5E-2C32A998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27287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What is a Workflow?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8EC91-7A05-58CF-3F00-23C5C90E5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119718"/>
            <a:ext cx="9915961" cy="353657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 workflow is a defined automation process triggered by an event.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triggers:</a:t>
            </a:r>
          </a:p>
          <a:p>
            <a:r>
              <a:rPr lang="en-US" dirty="0"/>
              <a:t>push</a:t>
            </a:r>
          </a:p>
          <a:p>
            <a:r>
              <a:rPr lang="en-US" dirty="0" err="1"/>
              <a:t>pull_request</a:t>
            </a:r>
            <a:endParaRPr lang="en-US" dirty="0"/>
          </a:p>
          <a:p>
            <a:r>
              <a:rPr lang="en-US" dirty="0"/>
              <a:t>schedule</a:t>
            </a:r>
          </a:p>
          <a:p>
            <a:r>
              <a:rPr lang="en-US" dirty="0"/>
              <a:t>manual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39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575B0-DC7D-E4B4-C41D-DA12E622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17C1-46C3-5FCC-560B-17668684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2604"/>
            <a:ext cx="10445231" cy="1080938"/>
          </a:xfrm>
        </p:spPr>
        <p:txBody>
          <a:bodyPr>
            <a:normAutofit/>
          </a:bodyPr>
          <a:lstStyle/>
          <a:p>
            <a:r>
              <a:rPr lang="en-US" b="1" dirty="0"/>
              <a:t>Example in GitHub Actions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220A8-7956-0926-5758-C1BB50259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931460"/>
            <a:ext cx="9915961" cy="37920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400" dirty="0"/>
              <a:t>name: Java CI</a:t>
            </a:r>
          </a:p>
          <a:p>
            <a:pPr marL="457200" lvl="1" indent="0">
              <a:buNone/>
            </a:pPr>
            <a:r>
              <a:rPr lang="en-US" sz="2400" dirty="0"/>
              <a:t>on:</a:t>
            </a:r>
          </a:p>
          <a:p>
            <a:pPr marL="457200" lvl="1" indent="0">
              <a:buNone/>
            </a:pPr>
            <a:r>
              <a:rPr lang="en-US" sz="2400" dirty="0"/>
              <a:t>  push:</a:t>
            </a:r>
          </a:p>
          <a:p>
            <a:pPr marL="457200" lvl="1" indent="0">
              <a:buNone/>
            </a:pPr>
            <a:r>
              <a:rPr lang="en-US" sz="2400" dirty="0"/>
              <a:t>    branches: [ "main" ]</a:t>
            </a:r>
          </a:p>
          <a:p>
            <a:pPr marL="457200" lvl="1" indent="0">
              <a:buNone/>
            </a:pPr>
            <a:r>
              <a:rPr lang="en-US" sz="2400" dirty="0"/>
              <a:t>jobs:</a:t>
            </a:r>
          </a:p>
          <a:p>
            <a:pPr marL="457200" lvl="1" indent="0">
              <a:buNone/>
            </a:pPr>
            <a:r>
              <a:rPr lang="en-US" sz="2400" dirty="0"/>
              <a:t>  build:</a:t>
            </a:r>
          </a:p>
          <a:p>
            <a:pPr marL="457200" lvl="1" indent="0">
              <a:buNone/>
            </a:pPr>
            <a:r>
              <a:rPr lang="en-US" sz="2400" dirty="0"/>
              <a:t>    runs-on: ubuntu-latest</a:t>
            </a:r>
          </a:p>
          <a:p>
            <a:pPr marL="457200" lvl="1" indent="0">
              <a:buNone/>
            </a:pPr>
            <a:r>
              <a:rPr lang="en-US" sz="2400" dirty="0"/>
              <a:t>    steps:</a:t>
            </a:r>
          </a:p>
          <a:p>
            <a:pPr marL="457200" lvl="1" indent="0">
              <a:buNone/>
            </a:pPr>
            <a:r>
              <a:rPr lang="en-US" sz="2400" dirty="0"/>
              <a:t>      - run: </a:t>
            </a:r>
            <a:r>
              <a:rPr lang="en-US" sz="2400" dirty="0" err="1"/>
              <a:t>mvn</a:t>
            </a:r>
            <a:r>
              <a:rPr lang="en-US" sz="2400" dirty="0"/>
              <a:t> test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0000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C2360-986B-E01E-93FD-6298AB1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9448-C8CB-BE9E-5627-4094B814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13840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What is a Workflow?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2BCBE-3334-AC93-91AF-72CB64BBD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39035"/>
            <a:ext cx="9915961" cy="328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That entire YAML file = workflow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defines:</a:t>
            </a:r>
          </a:p>
          <a:p>
            <a:r>
              <a:rPr lang="en-US" dirty="0"/>
              <a:t>When to run</a:t>
            </a:r>
          </a:p>
          <a:p>
            <a:r>
              <a:rPr lang="en-US" dirty="0"/>
              <a:t>What jobs to run</a:t>
            </a:r>
          </a:p>
          <a:p>
            <a:r>
              <a:rPr lang="en-US" dirty="0"/>
              <a:t>What steps to execute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7538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DDFAF-049F-D0E2-3395-455D333BF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5433-9474-8709-0533-2F744A2D9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67628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What is a Pipeline?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5F3AB-1A03-3E22-87FF-6F895EE2A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267635"/>
            <a:ext cx="9915961" cy="4276164"/>
          </a:xfrm>
        </p:spPr>
        <p:txBody>
          <a:bodyPr>
            <a:normAutofit/>
          </a:bodyPr>
          <a:lstStyle/>
          <a:p>
            <a:r>
              <a:rPr lang="en-US" dirty="0"/>
              <a:t>A pipeline is the complete CI/CD process that code goes through.</a:t>
            </a:r>
          </a:p>
          <a:p>
            <a:r>
              <a:rPr lang="en-US" dirty="0"/>
              <a:t>Typical pipeline stages:</a:t>
            </a:r>
          </a:p>
          <a:p>
            <a:pPr lvl="1"/>
            <a:r>
              <a:rPr lang="en-US" sz="2400" dirty="0"/>
              <a:t>Build</a:t>
            </a:r>
          </a:p>
          <a:p>
            <a:pPr lvl="1"/>
            <a:r>
              <a:rPr lang="en-US" sz="2400" dirty="0"/>
              <a:t>Test</a:t>
            </a:r>
          </a:p>
          <a:p>
            <a:pPr lvl="1"/>
            <a:r>
              <a:rPr lang="en-US" sz="2400" dirty="0"/>
              <a:t>Package</a:t>
            </a:r>
          </a:p>
          <a:p>
            <a:pPr lvl="1"/>
            <a:r>
              <a:rPr lang="en-US" sz="2400" dirty="0"/>
              <a:t>Deploy</a:t>
            </a:r>
          </a:p>
          <a:p>
            <a:pPr lvl="1"/>
            <a:r>
              <a:rPr lang="en-US" sz="2400" dirty="0"/>
              <a:t>Monitor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3921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4643-0B7F-1C5A-09A4-D6CBB1978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1BDA-5141-9FBE-F949-1F1540DA5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54181"/>
            <a:ext cx="10132817" cy="1080938"/>
          </a:xfrm>
        </p:spPr>
        <p:txBody>
          <a:bodyPr>
            <a:normAutofit/>
          </a:bodyPr>
          <a:lstStyle/>
          <a:p>
            <a:r>
              <a:rPr lang="en-US" b="1" dirty="0"/>
              <a:t>Workflow vs Pipeline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865A0-328A-1BE5-607A-84F7F06F1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4" y="3563471"/>
            <a:ext cx="4093384" cy="2232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Workflow = Implementation detail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Pipeline = Process flow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5BDB06-DC4E-981B-FC08-6701CD252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848" y="3429000"/>
            <a:ext cx="7410822" cy="301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218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5354-BD9B-68B0-CD1F-B47AA752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C584-1B9D-394A-E42E-4A91A2FC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00393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Workflow vs Pipeline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44FE63-F783-2BDD-A514-7B1F11A6A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254189"/>
            <a:ext cx="9915961" cy="31466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Analogy (Airport)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Pipeline = Entire journey (check-in → security → boarding → flight    </a:t>
            </a:r>
          </a:p>
          <a:p>
            <a:pPr marL="0" indent="0">
              <a:buNone/>
            </a:pPr>
            <a:r>
              <a:rPr lang="en-US" dirty="0"/>
              <a:t>                  → landing)</a:t>
            </a:r>
          </a:p>
          <a:p>
            <a:r>
              <a:rPr lang="en-US" dirty="0"/>
              <a:t>Workflow = Instructions for security officers on what to check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4414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9C32-B42A-B86B-84EF-D8EA9A1C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5B34-7190-41FB-7E73-0F13C3C87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00393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Technical 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A7B1D-02EB-510B-0AA3-F70BCF83C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92823"/>
            <a:ext cx="9915961" cy="3375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In GitHub: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A repository can have multiple workflows</a:t>
            </a:r>
          </a:p>
          <a:p>
            <a:r>
              <a:rPr lang="en-US" sz="2600" dirty="0"/>
              <a:t>Together, they form the CI/CD pipeline</a:t>
            </a:r>
          </a:p>
          <a:p>
            <a:endParaRPr lang="en-US" sz="2600" dirty="0"/>
          </a:p>
          <a:p>
            <a:pPr marL="457200" lvl="1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46478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2E57-AD22-3710-2E29-6EF9F6F6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CFF5-06CC-3CE6-AE8B-2590374DA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640734"/>
            <a:ext cx="10294182" cy="1080938"/>
          </a:xfrm>
        </p:spPr>
        <p:txBody>
          <a:bodyPr>
            <a:normAutofit/>
          </a:bodyPr>
          <a:lstStyle/>
          <a:p>
            <a:r>
              <a:rPr lang="en-US" b="1" dirty="0"/>
              <a:t>Example: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89BB1-2421-BE37-CDAA-25781AE5A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079375"/>
            <a:ext cx="9915961" cy="33886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ci.yml</a:t>
            </a:r>
            <a:r>
              <a:rPr lang="en-US" dirty="0"/>
              <a:t> → Build &amp; test workflow</a:t>
            </a:r>
          </a:p>
          <a:p>
            <a:r>
              <a:rPr lang="en-US" dirty="0" err="1"/>
              <a:t>deploy.yml</a:t>
            </a:r>
            <a:r>
              <a:rPr lang="en-US" dirty="0"/>
              <a:t> → Deployment workflow</a:t>
            </a:r>
          </a:p>
          <a:p>
            <a:r>
              <a:rPr lang="en-US" dirty="0" err="1"/>
              <a:t>security.yml</a:t>
            </a:r>
            <a:r>
              <a:rPr lang="en-US" dirty="0"/>
              <a:t> → Code scanning workflow</a:t>
            </a:r>
          </a:p>
          <a:p>
            <a:r>
              <a:rPr lang="en-US" dirty="0"/>
              <a:t>All combined = Your delivery pipeline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6578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87D6-E897-DF96-E6B8-57900ECF5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Thank You So Much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A7F14-5458-ED50-5EA6-AEAE797AEDBF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 err="1"/>
              <a:t>Terima</a:t>
            </a:r>
            <a:r>
              <a:rPr lang="en-US" sz="3600" dirty="0"/>
              <a:t> Kasih Banyak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A1B4F-B4C2-BA10-543E-A0454E1F2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20543405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1084</TotalTime>
  <Words>665</Words>
  <Application>Microsoft Macintosh PowerPoint</Application>
  <PresentationFormat>Widescreen</PresentationFormat>
  <Paragraphs>177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Trebuchet MS</vt:lpstr>
      <vt:lpstr>Berlin</vt:lpstr>
      <vt:lpstr>Version Control &amp;  Continuous Integration</vt:lpstr>
      <vt:lpstr>Why Version Control?</vt:lpstr>
      <vt:lpstr>What is Version Control?</vt:lpstr>
      <vt:lpstr>Industry Standard Tools</vt:lpstr>
      <vt:lpstr>Human-Readable Version Numbers</vt:lpstr>
      <vt:lpstr>Version Number: MAJOR</vt:lpstr>
      <vt:lpstr>Version Number: MINOR</vt:lpstr>
      <vt:lpstr>Version Number: PATCH</vt:lpstr>
      <vt:lpstr>Real Industry Example</vt:lpstr>
      <vt:lpstr>Where Do We Store the Version Number?</vt:lpstr>
      <vt:lpstr>What is CI/CD?</vt:lpstr>
      <vt:lpstr>Continuous Integration (CI) in Practice</vt:lpstr>
      <vt:lpstr>What is DevOps?</vt:lpstr>
      <vt:lpstr>DevOps Includes:</vt:lpstr>
      <vt:lpstr>DevOps Tools</vt:lpstr>
      <vt:lpstr>Key Difference</vt:lpstr>
      <vt:lpstr>CI/CD vs DevOps</vt:lpstr>
      <vt:lpstr>What is a Workflow?</vt:lpstr>
      <vt:lpstr>Example in GitHub Actions</vt:lpstr>
      <vt:lpstr>What is a Workflow?</vt:lpstr>
      <vt:lpstr>What is a Pipeline?</vt:lpstr>
      <vt:lpstr>Workflow vs Pipeline</vt:lpstr>
      <vt:lpstr>Workflow vs Pipeline</vt:lpstr>
      <vt:lpstr>Technical View</vt:lpstr>
      <vt:lpstr>Example:</vt:lpstr>
      <vt:lpstr>Thank You So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Zhamri bin Che Ani</dc:creator>
  <cp:lastModifiedBy>Zhamri bin Che Ani</cp:lastModifiedBy>
  <cp:revision>43</cp:revision>
  <dcterms:created xsi:type="dcterms:W3CDTF">2026-03-02T11:46:12Z</dcterms:created>
  <dcterms:modified xsi:type="dcterms:W3CDTF">2026-03-03T05:50:31Z</dcterms:modified>
</cp:coreProperties>
</file>